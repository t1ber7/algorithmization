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58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521D8-3EAF-4698-9E8E-B5DFCFF52CA5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9A4C51-7A37-43C2-9CF3-ACC42A8237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00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A4C51-7A37-43C2-9CF3-ACC42A82373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86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9A4C51-7A37-43C2-9CF3-ACC42A82373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861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01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109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060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96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19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62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664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814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65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26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07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947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9641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713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795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1818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2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505E79D-9CAB-4949-AA83-D052154352B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5F77C9E-9B0D-48B5-AF8A-C1BDB0327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25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33425" y="517237"/>
            <a:ext cx="10969048" cy="4260144"/>
          </a:xfrm>
        </p:spPr>
        <p:txBody>
          <a:bodyPr/>
          <a:lstStyle/>
          <a:p>
            <a:r>
              <a:rPr lang="ru-RU" sz="5000" dirty="0">
                <a:latin typeface="Bahnschrift Condensed" panose="020B0502040204020203" pitchFamily="34" charset="0"/>
              </a:rPr>
              <a:t>Стандарты жизненного цикла ПО: ISO/IEC 12207 и его связь с гибкими методологиями (</a:t>
            </a:r>
            <a:r>
              <a:rPr lang="ru-RU" sz="5000" dirty="0" err="1">
                <a:latin typeface="Bahnschrift Condensed" panose="020B0502040204020203" pitchFamily="34" charset="0"/>
              </a:rPr>
              <a:t>Agile</a:t>
            </a:r>
            <a:r>
              <a:rPr lang="ru-RU" sz="5000" dirty="0">
                <a:latin typeface="Bahnschrift Condensed" panose="020B0502040204020203" pitchFamily="34" charset="0"/>
              </a:rPr>
              <a:t>, </a:t>
            </a:r>
            <a:r>
              <a:rPr lang="ru-RU" sz="5000" dirty="0" err="1">
                <a:latin typeface="Bahnschrift Condensed" panose="020B0502040204020203" pitchFamily="34" charset="0"/>
              </a:rPr>
              <a:t>Scrum</a:t>
            </a:r>
            <a:r>
              <a:rPr lang="ru-RU" sz="5000" dirty="0">
                <a:latin typeface="Bahnschrift Condensed" panose="020B0502040204020203" pitchFamily="34" charset="0"/>
              </a:rPr>
              <a:t>). Стандарты и документооборот в гибкой (</a:t>
            </a:r>
            <a:r>
              <a:rPr lang="ru-RU" sz="5000" dirty="0" err="1">
                <a:latin typeface="Bahnschrift Condensed" panose="020B0502040204020203" pitchFamily="34" charset="0"/>
              </a:rPr>
              <a:t>Agile</a:t>
            </a:r>
            <a:r>
              <a:rPr lang="ru-RU" sz="5000" dirty="0">
                <a:latin typeface="Bahnschrift Condensed" panose="020B0502040204020203" pitchFamily="34" charset="0"/>
              </a:rPr>
              <a:t>) и </a:t>
            </a:r>
            <a:r>
              <a:rPr lang="ru-RU" sz="5000" dirty="0" err="1">
                <a:latin typeface="Bahnschrift Condensed" panose="020B0502040204020203" pitchFamily="34" charset="0"/>
              </a:rPr>
              <a:t>DevOps</a:t>
            </a:r>
            <a:r>
              <a:rPr lang="ru-RU" sz="5000" dirty="0">
                <a:latin typeface="Bahnschrift Condensed" panose="020B0502040204020203" pitchFamily="34" charset="0"/>
              </a:rPr>
              <a:t>-среде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9391" y="4980580"/>
            <a:ext cx="8825658" cy="861420"/>
          </a:xfrm>
        </p:spPr>
        <p:txBody>
          <a:bodyPr/>
          <a:lstStyle/>
          <a:p>
            <a:r>
              <a:rPr lang="ru-RU" dirty="0" smtClean="0"/>
              <a:t>Выполнил: Мухамадиев Эмиль 22П-2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297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 smtClean="0"/>
              <a:t>Что </a:t>
            </a:r>
            <a:r>
              <a:rPr lang="ru-RU" b="1" dirty="0" smtClean="0">
                <a:latin typeface="Bahnschrift Condensed" panose="020B0502040204020203" pitchFamily="34" charset="0"/>
              </a:rPr>
              <a:t>такое</a:t>
            </a:r>
            <a:r>
              <a:rPr lang="ru-RU" b="1" dirty="0" smtClean="0"/>
              <a:t> </a:t>
            </a:r>
            <a:r>
              <a:rPr lang="en-US" b="1" dirty="0" smtClean="0"/>
              <a:t>ISO/IEC 12207 </a:t>
            </a:r>
            <a:r>
              <a:rPr lang="ru-RU" b="1" dirty="0" smtClean="0"/>
              <a:t>и </a:t>
            </a:r>
            <a:r>
              <a:rPr lang="en-US" b="1" dirty="0"/>
              <a:t>A</a:t>
            </a:r>
            <a:r>
              <a:rPr lang="en-US" b="1" dirty="0" smtClean="0"/>
              <a:t>gile/Scrum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0658" y="4221017"/>
            <a:ext cx="8825659" cy="23090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Философия</a:t>
            </a:r>
            <a:r>
              <a:rPr lang="ru-RU" dirty="0">
                <a:solidFill>
                  <a:schemeClr val="tx1"/>
                </a:solidFill>
              </a:rPr>
              <a:t> 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 и его ценности. Люди и взаимодействие &gt; процессы и инструменты; Работающий продукт &gt; исчерпывающая </a:t>
            </a:r>
            <a:r>
              <a:rPr lang="ru-RU" sz="2400" dirty="0" smtClean="0">
                <a:solidFill>
                  <a:schemeClr val="tx1"/>
                </a:solidFill>
              </a:rPr>
              <a:t>документация.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400" dirty="0" err="1" smtClean="0">
                <a:solidFill>
                  <a:schemeClr val="tx1"/>
                </a:solidFill>
              </a:rPr>
              <a:t>Scrum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как </a:t>
            </a:r>
            <a:r>
              <a:rPr lang="ru-RU" sz="2400" dirty="0" err="1">
                <a:solidFill>
                  <a:schemeClr val="tx1"/>
                </a:solidFill>
              </a:rPr>
              <a:t>фреймворк</a:t>
            </a:r>
            <a:r>
              <a:rPr lang="ru-RU" sz="2400" dirty="0" smtClean="0">
                <a:solidFill>
                  <a:schemeClr val="tx1"/>
                </a:solidFill>
              </a:rPr>
              <a:t>. </a:t>
            </a:r>
            <a:r>
              <a:rPr lang="ru-RU" sz="2400" dirty="0">
                <a:solidFill>
                  <a:schemeClr val="tx1"/>
                </a:solidFill>
              </a:rPr>
              <a:t>Роли (Владелец продукта, </a:t>
            </a:r>
            <a:r>
              <a:rPr lang="ru-RU" sz="2400" dirty="0" err="1">
                <a:solidFill>
                  <a:schemeClr val="tx1"/>
                </a:solidFill>
              </a:rPr>
              <a:t>Scrum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Master</a:t>
            </a:r>
            <a:r>
              <a:rPr lang="ru-RU" sz="2400" dirty="0">
                <a:solidFill>
                  <a:schemeClr val="tx1"/>
                </a:solidFill>
              </a:rPr>
              <a:t>, Команда), Артефакты (</a:t>
            </a:r>
            <a:r>
              <a:rPr lang="ru-RU" sz="2400" dirty="0" err="1">
                <a:solidFill>
                  <a:schemeClr val="tx1"/>
                </a:solidFill>
              </a:rPr>
              <a:t>Бэклог</a:t>
            </a:r>
            <a:r>
              <a:rPr lang="ru-RU" sz="2400" dirty="0">
                <a:solidFill>
                  <a:schemeClr val="tx1"/>
                </a:solidFill>
              </a:rPr>
              <a:t> продукта, </a:t>
            </a:r>
            <a:r>
              <a:rPr lang="ru-RU" sz="2400" dirty="0" err="1">
                <a:solidFill>
                  <a:schemeClr val="tx1"/>
                </a:solidFill>
              </a:rPr>
              <a:t>Бэклог</a:t>
            </a:r>
            <a:r>
              <a:rPr lang="ru-RU" sz="2400" dirty="0">
                <a:solidFill>
                  <a:schemeClr val="tx1"/>
                </a:solidFill>
              </a:rPr>
              <a:t> спринта, Инкремент), События (Спринт, Планирование, </a:t>
            </a:r>
            <a:r>
              <a:rPr lang="ru-RU" sz="2400" dirty="0" err="1">
                <a:solidFill>
                  <a:schemeClr val="tx1"/>
                </a:solidFill>
              </a:rPr>
              <a:t>Daily</a:t>
            </a:r>
            <a:r>
              <a:rPr lang="ru-RU" sz="2400" dirty="0">
                <a:solidFill>
                  <a:schemeClr val="tx1"/>
                </a:solidFill>
              </a:rPr>
              <a:t> </a:t>
            </a:r>
            <a:r>
              <a:rPr lang="ru-RU" sz="2400" dirty="0" err="1">
                <a:solidFill>
                  <a:schemeClr val="tx1"/>
                </a:solidFill>
              </a:rPr>
              <a:t>Scrum</a:t>
            </a:r>
            <a:r>
              <a:rPr lang="ru-RU" sz="2400" dirty="0">
                <a:solidFill>
                  <a:schemeClr val="tx1"/>
                </a:solidFill>
              </a:rPr>
              <a:t> и т.д.).</a:t>
            </a:r>
            <a:endParaRPr lang="ru-RU" sz="28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241964" y="2601267"/>
            <a:ext cx="84789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Что </a:t>
            </a:r>
            <a:r>
              <a:rPr lang="ru-RU" sz="2400" dirty="0" smtClean="0"/>
              <a:t>такое ISO/IEC 12207</a:t>
            </a:r>
            <a:r>
              <a:rPr lang="en-US" sz="2400" dirty="0"/>
              <a:t>:  </a:t>
            </a:r>
            <a:r>
              <a:rPr lang="ru-RU" sz="2400" dirty="0"/>
              <a:t>Международный стандарт, описывающий процессы жизненного цикла ПО. Его цель — создание общего языка и структуры для управления проектами.</a:t>
            </a:r>
            <a:endParaRPr lang="en-US" sz="2400" dirty="0">
              <a:latin typeface="Bahnschrift Condensed" panose="020B0502040204020203" pitchFamily="34" charset="0"/>
            </a:endParaRPr>
          </a:p>
        </p:txBody>
      </p:sp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08" y="2493818"/>
            <a:ext cx="1415227" cy="141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51" r="28339"/>
          <a:stretch/>
        </p:blipFill>
        <p:spPr bwMode="auto">
          <a:xfrm>
            <a:off x="1810735" y="2712542"/>
            <a:ext cx="997527" cy="97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2" t="17176" r="51638" b="17939"/>
          <a:stretch/>
        </p:blipFill>
        <p:spPr bwMode="auto">
          <a:xfrm>
            <a:off x="8913091" y="4332293"/>
            <a:ext cx="2872510" cy="173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954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0335" y="817130"/>
            <a:ext cx="10048466" cy="1071032"/>
          </a:xfrm>
        </p:spPr>
        <p:txBody>
          <a:bodyPr/>
          <a:lstStyle/>
          <a:p>
            <a:pPr algn="ctr"/>
            <a:r>
              <a:rPr lang="ru-RU" sz="4400" dirty="0" smtClean="0">
                <a:latin typeface="Bahnschrift Condensed" panose="020B0502040204020203" pitchFamily="34" charset="0"/>
              </a:rPr>
              <a:t>Проблематика между </a:t>
            </a:r>
            <a:r>
              <a:rPr lang="en-US" sz="4400" dirty="0" smtClean="0">
                <a:latin typeface="Bahnschrift Condensed" panose="020B0502040204020203" pitchFamily="34" charset="0"/>
              </a:rPr>
              <a:t>ISO </a:t>
            </a:r>
            <a:r>
              <a:rPr lang="ru-RU" sz="4400" dirty="0" smtClean="0">
                <a:latin typeface="Bahnschrift Condensed" panose="020B0502040204020203" pitchFamily="34" charset="0"/>
              </a:rPr>
              <a:t>и </a:t>
            </a:r>
            <a:r>
              <a:rPr lang="en-US" sz="4400" dirty="0" smtClean="0">
                <a:latin typeface="Bahnschrift Condensed" panose="020B0502040204020203" pitchFamily="34" charset="0"/>
              </a:rPr>
              <a:t>Agile/Scrum</a:t>
            </a:r>
            <a:r>
              <a:rPr lang="en-US" sz="4400" b="1" dirty="0">
                <a:latin typeface="Bahnschrift Condensed" panose="020B0502040204020203" pitchFamily="34" charset="0"/>
              </a:rPr>
              <a:t> </a:t>
            </a:r>
            <a:r>
              <a:rPr lang="ru-RU" sz="4400" dirty="0" smtClean="0">
                <a:latin typeface="Bahnschrift Condensed" panose="020B0502040204020203" pitchFamily="34" charset="0"/>
              </a:rPr>
              <a:t>подходами</a:t>
            </a:r>
            <a:endParaRPr lang="ru-RU" sz="4400" dirty="0"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82618" y="2225964"/>
            <a:ext cx="9615054" cy="4368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Документооборот </a:t>
            </a:r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vs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рабочий продукт</a:t>
            </a:r>
          </a:p>
          <a:p>
            <a:pPr lvl="1"/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ISO 12207 требует формальной документации</a:t>
            </a:r>
          </a:p>
          <a:p>
            <a:pPr lvl="1"/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Agile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предпочитает "работающий продукт превыше исчерпывающей документации"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Предсказуемость </a:t>
            </a:r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vs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адаптивность</a:t>
            </a:r>
          </a:p>
          <a:p>
            <a:pPr lvl="1"/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Стандарты предполагают планирование на весь жизненный цикл</a:t>
            </a:r>
          </a:p>
          <a:p>
            <a:pPr lvl="1"/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Agile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допускает изменения требований даже на поздних стадиях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Формальные процессы </a:t>
            </a:r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vs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самоорганизация</a:t>
            </a:r>
          </a:p>
          <a:p>
            <a:pPr lvl="1"/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ISO определяет роли и ответственность</a:t>
            </a:r>
          </a:p>
          <a:p>
            <a:pPr lvl="1"/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</a:rPr>
              <a:t>Scrum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</a:rPr>
              <a:t> полагается на самоорганизующиеся </a:t>
            </a:r>
            <a:r>
              <a:rPr lang="ru-RU" sz="2400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команды</a:t>
            </a:r>
            <a:endParaRPr lang="ru-RU" sz="2400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97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1819" y="701963"/>
            <a:ext cx="11212945" cy="1218814"/>
          </a:xfrm>
        </p:spPr>
        <p:txBody>
          <a:bodyPr/>
          <a:lstStyle/>
          <a:p>
            <a:pPr algn="ctr"/>
            <a:r>
              <a:rPr lang="ru-RU" sz="4000" dirty="0">
                <a:latin typeface="Bahnschrift Condensed" panose="020B0502040204020203" pitchFamily="34" charset="0"/>
              </a:rPr>
              <a:t>Необходимость баланса между управлением </a:t>
            </a:r>
            <a:r>
              <a:rPr lang="ru-RU" sz="4000" dirty="0" smtClean="0">
                <a:latin typeface="Bahnschrift Condensed" panose="020B0502040204020203" pitchFamily="34" charset="0"/>
              </a:rPr>
              <a:t>и гибкостью</a:t>
            </a:r>
            <a:endParaRPr lang="ru-RU" sz="4000" dirty="0">
              <a:latin typeface="Bahnschrift Condensed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6595" y="2479675"/>
            <a:ext cx="10009042" cy="38925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Современные подходы позволяют:</a:t>
            </a:r>
          </a:p>
          <a:p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Использовать стандарты как основу, а не как ограничение</a:t>
            </a:r>
          </a:p>
          <a:p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Встроить контроль качества в процесс разработки, а не добавлять его отдельно</a:t>
            </a:r>
          </a:p>
          <a:p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Достигать предсказуемости через прозрачность и метрики, а не через жесткое планирование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Б</a:t>
            </a:r>
            <a:r>
              <a:rPr lang="ru-RU" sz="2400" dirty="0" smtClean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ез 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управления — хаос и технический долг, а без гибкости — </a:t>
            </a:r>
            <a:r>
              <a:rPr lang="ru-RU" sz="2400" dirty="0" err="1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застревание</a:t>
            </a:r>
            <a:r>
              <a:rPr lang="ru-RU" sz="2400" dirty="0">
                <a:solidFill>
                  <a:schemeClr val="tx1"/>
                </a:solidFill>
                <a:latin typeface="Bahnschrift Condensed" panose="020B0502040204020203" pitchFamily="34" charset="0"/>
                <a:cs typeface="Times New Roman" panose="02020603050405020304" pitchFamily="18" charset="0"/>
              </a:rPr>
              <a:t> и потеря рынка. Баланс даёт скорость без потери контроля: можно быстро выпускать качественный продукт, который ещё и соответствует стандартам и законам.</a:t>
            </a:r>
          </a:p>
        </p:txBody>
      </p:sp>
      <p:pic>
        <p:nvPicPr>
          <p:cNvPr id="2052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121" y="4691884"/>
            <a:ext cx="1287218" cy="128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59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5775" y="812512"/>
            <a:ext cx="11182350" cy="1080557"/>
          </a:xfrm>
        </p:spPr>
        <p:txBody>
          <a:bodyPr/>
          <a:lstStyle/>
          <a:p>
            <a:pPr algn="ctr"/>
            <a:r>
              <a:rPr lang="ru-RU" b="1" dirty="0"/>
              <a:t>Мост между мирами: Связь ISO 12207 и </a:t>
            </a:r>
            <a:r>
              <a:rPr lang="ru-RU" b="1" dirty="0" err="1"/>
              <a:t>Agile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776" y="2352675"/>
            <a:ext cx="9341716" cy="3895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Они не взаимоисключающие, а </a:t>
            </a:r>
            <a:r>
              <a:rPr lang="ru-RU" sz="2400" dirty="0" smtClean="0">
                <a:solidFill>
                  <a:schemeClr val="tx1"/>
                </a:solidFill>
              </a:rPr>
              <a:t>дополняющие:</a:t>
            </a:r>
            <a:r>
              <a:rPr lang="ru-RU" sz="2400" dirty="0">
                <a:solidFill>
                  <a:schemeClr val="tx1"/>
                </a:solidFill>
              </a:rPr>
              <a:t> ISO 12207 описывает </a:t>
            </a:r>
            <a:r>
              <a:rPr lang="ru-RU" sz="2400" dirty="0" smtClean="0">
                <a:solidFill>
                  <a:schemeClr val="tx1"/>
                </a:solidFill>
              </a:rPr>
              <a:t>что</a:t>
            </a:r>
            <a:r>
              <a:rPr lang="ru-RU" sz="2400" dirty="0">
                <a:solidFill>
                  <a:schemeClr val="tx1"/>
                </a:solidFill>
              </a:rPr>
              <a:t> должно быть сделано (процессы, результаты), а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/</a:t>
            </a:r>
            <a:r>
              <a:rPr lang="ru-RU" sz="2400" dirty="0" err="1">
                <a:solidFill>
                  <a:schemeClr val="tx1"/>
                </a:solidFill>
              </a:rPr>
              <a:t>Scrum</a:t>
            </a:r>
            <a:r>
              <a:rPr lang="ru-RU" sz="2400" dirty="0">
                <a:solidFill>
                  <a:schemeClr val="tx1"/>
                </a:solidFill>
              </a:rPr>
              <a:t> — </a:t>
            </a:r>
            <a:r>
              <a:rPr lang="ru-RU" sz="2400" dirty="0" smtClean="0">
                <a:solidFill>
                  <a:schemeClr val="tx1"/>
                </a:solidFill>
              </a:rPr>
              <a:t>как</a:t>
            </a:r>
            <a:r>
              <a:rPr lang="ru-RU" sz="2400" dirty="0">
                <a:solidFill>
                  <a:schemeClr val="tx1"/>
                </a:solidFill>
              </a:rPr>
              <a:t> это можно эффективно сделать в условиях неопределенности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Как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 процессы вписываются </a:t>
            </a:r>
            <a:r>
              <a:rPr lang="ru-RU" sz="2400" dirty="0" smtClean="0">
                <a:solidFill>
                  <a:schemeClr val="tx1"/>
                </a:solidFill>
              </a:rPr>
              <a:t>в стандарты </a:t>
            </a:r>
            <a:r>
              <a:rPr lang="ru-RU" sz="2400" dirty="0">
                <a:solidFill>
                  <a:schemeClr val="tx1"/>
                </a:solidFill>
              </a:rPr>
              <a:t>ISO </a:t>
            </a:r>
            <a:r>
              <a:rPr lang="ru-RU" sz="2400" dirty="0" smtClean="0">
                <a:solidFill>
                  <a:schemeClr val="tx1"/>
                </a:solidFill>
              </a:rPr>
              <a:t>12207: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dirty="0" smtClean="0">
                <a:solidFill>
                  <a:schemeClr val="tx1"/>
                </a:solidFill>
              </a:rPr>
              <a:t>Процесс</a:t>
            </a:r>
            <a:r>
              <a:rPr lang="ru-RU" sz="2400" dirty="0">
                <a:solidFill>
                  <a:schemeClr val="tx1"/>
                </a:solidFill>
              </a:rPr>
              <a:t> Разработки из ISO 12207 реализуется через серию спринтов, каждый из которых производит рабочий инкремент.</a:t>
            </a:r>
            <a:r>
              <a:rPr lang="ru-RU" sz="3200" dirty="0">
                <a:solidFill>
                  <a:schemeClr val="tx1"/>
                </a:solidFill>
              </a:rPr>
              <a:t/>
            </a:r>
            <a:br>
              <a:rPr lang="ru-RU" sz="32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dirty="0" smtClean="0">
                <a:solidFill>
                  <a:schemeClr val="tx1"/>
                </a:solidFill>
              </a:rPr>
              <a:t>Процесс</a:t>
            </a:r>
            <a:r>
              <a:rPr lang="ru-RU" sz="2400" dirty="0">
                <a:solidFill>
                  <a:schemeClr val="tx1"/>
                </a:solidFill>
              </a:rPr>
              <a:t> Управления проектом реализуется через события </a:t>
            </a:r>
            <a:r>
              <a:rPr lang="ru-RU" sz="2400" dirty="0" err="1">
                <a:solidFill>
                  <a:schemeClr val="tx1"/>
                </a:solidFill>
              </a:rPr>
              <a:t>Scrum</a:t>
            </a:r>
            <a:r>
              <a:rPr lang="ru-RU" sz="2400" dirty="0">
                <a:solidFill>
                  <a:schemeClr val="tx1"/>
                </a:solidFill>
              </a:rPr>
              <a:t> (планирование спринта, ежедневные встречи, ретроспективы).</a:t>
            </a:r>
            <a:r>
              <a:rPr lang="ru-RU" sz="3200" dirty="0">
                <a:solidFill>
                  <a:schemeClr val="tx1"/>
                </a:solidFill>
              </a:rPr>
              <a:t/>
            </a:r>
            <a:br>
              <a:rPr lang="ru-RU" sz="3200" dirty="0">
                <a:solidFill>
                  <a:schemeClr val="tx1"/>
                </a:solidFill>
              </a:rPr>
            </a:br>
            <a:r>
              <a:rPr lang="ru-RU" sz="3200" dirty="0" smtClean="0">
                <a:solidFill>
                  <a:schemeClr val="tx1"/>
                </a:solidFill>
              </a:rPr>
              <a:t>	</a:t>
            </a:r>
            <a:r>
              <a:rPr lang="ru-RU" sz="2400" dirty="0" smtClean="0">
                <a:solidFill>
                  <a:schemeClr val="tx1"/>
                </a:solidFill>
              </a:rPr>
              <a:t>Верификация </a:t>
            </a:r>
            <a:r>
              <a:rPr lang="ru-RU" sz="2400" dirty="0">
                <a:solidFill>
                  <a:schemeClr val="tx1"/>
                </a:solidFill>
              </a:rPr>
              <a:t>и в</a:t>
            </a:r>
            <a:r>
              <a:rPr lang="ru-RU" sz="2400" dirty="0" smtClean="0">
                <a:solidFill>
                  <a:schemeClr val="tx1"/>
                </a:solidFill>
              </a:rPr>
              <a:t>алидация</a:t>
            </a:r>
            <a:r>
              <a:rPr lang="ru-RU" sz="2400" dirty="0">
                <a:solidFill>
                  <a:schemeClr val="tx1"/>
                </a:solidFill>
              </a:rPr>
              <a:t> (тестирование) интегрированы в каждый спринт, а не вынесены в конец.</a:t>
            </a:r>
            <a:endParaRPr lang="ru-RU" sz="3200" dirty="0">
              <a:solidFill>
                <a:schemeClr val="tx1"/>
              </a:solidFill>
            </a:endParaRPr>
          </a:p>
        </p:txBody>
      </p:sp>
      <p:pic>
        <p:nvPicPr>
          <p:cNvPr id="4" name="Picture 2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252" t="5691" r="24551" b="7444"/>
          <a:stretch/>
        </p:blipFill>
        <p:spPr bwMode="auto">
          <a:xfrm>
            <a:off x="10051084" y="2664402"/>
            <a:ext cx="1927931" cy="258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963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5004" y="964143"/>
            <a:ext cx="8761413" cy="706964"/>
          </a:xfrm>
        </p:spPr>
        <p:txBody>
          <a:bodyPr/>
          <a:lstStyle/>
          <a:p>
            <a:pPr algn="ctr"/>
            <a:r>
              <a:rPr lang="ru-RU" b="1" dirty="0"/>
              <a:t>Адаптация документооборота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7662" y="2466109"/>
            <a:ext cx="11016095" cy="36760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Вместо гигантских спецификаций — легковесные, но достаточные </a:t>
            </a:r>
            <a:r>
              <a:rPr lang="ru-RU" sz="2400" dirty="0" smtClean="0">
                <a:solidFill>
                  <a:schemeClr val="tx1"/>
                </a:solidFill>
              </a:rPr>
              <a:t>артефакты: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b="1" dirty="0" err="1" smtClean="0">
                <a:solidFill>
                  <a:schemeClr val="tx1"/>
                </a:solidFill>
              </a:rPr>
              <a:t>Vision</a:t>
            </a:r>
            <a:r>
              <a:rPr lang="ru-RU" sz="2400" b="1" dirty="0" smtClean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Document</a:t>
            </a:r>
            <a:r>
              <a:rPr lang="ru-RU" sz="2400" dirty="0">
                <a:solidFill>
                  <a:schemeClr val="tx1"/>
                </a:solidFill>
              </a:rPr>
              <a:t> и </a:t>
            </a:r>
            <a:r>
              <a:rPr lang="ru-RU" sz="2400" b="1" dirty="0" err="1">
                <a:solidFill>
                  <a:schemeClr val="tx1"/>
                </a:solidFill>
              </a:rPr>
              <a:t>Product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Backlog</a:t>
            </a:r>
            <a:r>
              <a:rPr lang="ru-RU" sz="2400" dirty="0">
                <a:solidFill>
                  <a:schemeClr val="tx1"/>
                </a:solidFill>
              </a:rPr>
              <a:t> заменяют детализированное ТЗ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	</a:t>
            </a:r>
            <a:r>
              <a:rPr lang="ru-RU" sz="2400" b="1" dirty="0" err="1" smtClean="0">
                <a:solidFill>
                  <a:schemeClr val="tx1"/>
                </a:solidFill>
              </a:rPr>
              <a:t>Definition</a:t>
            </a:r>
            <a:r>
              <a:rPr lang="ru-RU" sz="2400" b="1" dirty="0" smtClean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of</a:t>
            </a:r>
            <a:r>
              <a:rPr lang="ru-RU" sz="2400" b="1" dirty="0">
                <a:solidFill>
                  <a:schemeClr val="tx1"/>
                </a:solidFill>
              </a:rPr>
              <a:t> </a:t>
            </a:r>
            <a:r>
              <a:rPr lang="ru-RU" sz="2400" b="1" dirty="0" err="1">
                <a:solidFill>
                  <a:schemeClr val="tx1"/>
                </a:solidFill>
              </a:rPr>
              <a:t>Done</a:t>
            </a:r>
            <a:r>
              <a:rPr lang="ru-RU" sz="2400" b="1" dirty="0">
                <a:solidFill>
                  <a:schemeClr val="tx1"/>
                </a:solidFill>
              </a:rPr>
              <a:t> (</a:t>
            </a:r>
            <a:r>
              <a:rPr lang="ru-RU" sz="2400" b="1" dirty="0" err="1">
                <a:solidFill>
                  <a:schemeClr val="tx1"/>
                </a:solidFill>
              </a:rPr>
              <a:t>DoD</a:t>
            </a:r>
            <a:r>
              <a:rPr lang="ru-RU" sz="2400" b="1" dirty="0">
                <a:solidFill>
                  <a:schemeClr val="tx1"/>
                </a:solidFill>
              </a:rPr>
              <a:t>)</a:t>
            </a:r>
            <a:r>
              <a:rPr lang="ru-RU" sz="2400" dirty="0">
                <a:solidFill>
                  <a:schemeClr val="tx1"/>
                </a:solidFill>
              </a:rPr>
              <a:t> — четкие критерии завершенности работы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      </a:t>
            </a:r>
            <a:r>
              <a:rPr lang="ru-RU" sz="2400" dirty="0" smtClean="0">
                <a:solidFill>
                  <a:schemeClr val="tx1"/>
                </a:solidFill>
              </a:rPr>
              <a:t>(</a:t>
            </a:r>
            <a:r>
              <a:rPr lang="ru-RU" sz="2400" dirty="0">
                <a:solidFill>
                  <a:schemeClr val="tx1"/>
                </a:solidFill>
              </a:rPr>
              <a:t>заменяет формальные акты</a:t>
            </a:r>
            <a:r>
              <a:rPr lang="ru-RU" sz="2400" dirty="0" smtClean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	</a:t>
            </a:r>
            <a:r>
              <a:rPr lang="ru-RU" sz="2400" b="1" dirty="0" smtClean="0">
                <a:solidFill>
                  <a:schemeClr val="tx1"/>
                </a:solidFill>
              </a:rPr>
              <a:t>Инкремент </a:t>
            </a:r>
            <a:r>
              <a:rPr lang="ru-RU" sz="2400" b="1" dirty="0">
                <a:solidFill>
                  <a:schemeClr val="tx1"/>
                </a:solidFill>
              </a:rPr>
              <a:t>ПО</a:t>
            </a:r>
            <a:r>
              <a:rPr lang="ru-RU" sz="2400" dirty="0">
                <a:solidFill>
                  <a:schemeClr val="tx1"/>
                </a:solidFill>
              </a:rPr>
              <a:t> — главный результат, заменяющий гору промежуточных отчетов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Это основные принципы разработки характерные при совмещении методов стандартизации, которые как раз таки оставляют стандарты от </a:t>
            </a:r>
            <a:r>
              <a:rPr lang="en-US" sz="2400" dirty="0" smtClean="0">
                <a:solidFill>
                  <a:schemeClr val="tx1"/>
                </a:solidFill>
              </a:rPr>
              <a:t>ISO 12207 </a:t>
            </a:r>
            <a:r>
              <a:rPr lang="ru-RU" sz="2400" dirty="0" smtClean="0">
                <a:solidFill>
                  <a:schemeClr val="tx1"/>
                </a:solidFill>
              </a:rPr>
              <a:t>но делают их менее время затратными и более в живом</a:t>
            </a:r>
            <a:r>
              <a:rPr lang="en-US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 smtClean="0">
                <a:solidFill>
                  <a:schemeClr val="tx1"/>
                </a:solidFill>
              </a:rPr>
              <a:t>режиме по типу графиков, метрик, </a:t>
            </a:r>
            <a:r>
              <a:rPr lang="en-US" sz="2400" dirty="0" smtClean="0">
                <a:solidFill>
                  <a:schemeClr val="tx1"/>
                </a:solidFill>
              </a:rPr>
              <a:t>KPI </a:t>
            </a:r>
            <a:r>
              <a:rPr lang="ru-RU" sz="2400" dirty="0" smtClean="0">
                <a:solidFill>
                  <a:schemeClr val="tx1"/>
                </a:solidFill>
              </a:rPr>
              <a:t>и </a:t>
            </a:r>
            <a:r>
              <a:rPr lang="ru-RU" sz="2400" dirty="0" err="1" smtClean="0">
                <a:solidFill>
                  <a:schemeClr val="tx1"/>
                </a:solidFill>
              </a:rPr>
              <a:t>тд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3" t="5135" r="12968" b="4757"/>
          <a:stretch/>
        </p:blipFill>
        <p:spPr bwMode="auto">
          <a:xfrm>
            <a:off x="9725891" y="2623127"/>
            <a:ext cx="1468582" cy="178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989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561975"/>
            <a:ext cx="11058525" cy="1118657"/>
          </a:xfrm>
        </p:spPr>
        <p:txBody>
          <a:bodyPr/>
          <a:lstStyle/>
          <a:p>
            <a:pPr algn="ctr"/>
            <a:r>
              <a:rPr lang="ru-RU" b="1" dirty="0"/>
              <a:t>Эволюция к </a:t>
            </a:r>
            <a:r>
              <a:rPr lang="ru-RU" b="1" dirty="0" err="1"/>
              <a:t>DevOps</a:t>
            </a:r>
            <a:r>
              <a:rPr lang="ru-RU" b="1" dirty="0"/>
              <a:t> и современные стандарты документооборота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7855" y="2163617"/>
            <a:ext cx="11830915" cy="4546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>
                <a:solidFill>
                  <a:schemeClr val="tx1"/>
                </a:solidFill>
              </a:rPr>
              <a:t>DevOps</a:t>
            </a:r>
            <a:r>
              <a:rPr lang="ru-RU" sz="2400" dirty="0">
                <a:solidFill>
                  <a:schemeClr val="tx1"/>
                </a:solidFill>
              </a:rPr>
              <a:t> — это культура, практики и инструменты, которые объединяют разработку (</a:t>
            </a:r>
            <a:r>
              <a:rPr lang="ru-RU" sz="2400" dirty="0" err="1">
                <a:solidFill>
                  <a:schemeClr val="tx1"/>
                </a:solidFill>
              </a:rPr>
              <a:t>Development</a:t>
            </a:r>
            <a:r>
              <a:rPr lang="ru-RU" sz="2400" dirty="0">
                <a:solidFill>
                  <a:schemeClr val="tx1"/>
                </a:solidFill>
              </a:rPr>
              <a:t>) и эксплуатацию (</a:t>
            </a:r>
            <a:r>
              <a:rPr lang="ru-RU" sz="2400" dirty="0" err="1">
                <a:solidFill>
                  <a:schemeClr val="tx1"/>
                </a:solidFill>
              </a:rPr>
              <a:t>Operations</a:t>
            </a:r>
            <a:r>
              <a:rPr lang="ru-RU" sz="2400" dirty="0">
                <a:solidFill>
                  <a:schemeClr val="tx1"/>
                </a:solidFill>
              </a:rPr>
              <a:t>), чтобы ускорить доставку программного обеспечения и повысить его надёжность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Суть в том что бы найти компромисс</a:t>
            </a:r>
            <a:r>
              <a:rPr lang="ru-RU" sz="2400" dirty="0">
                <a:solidFill>
                  <a:schemeClr val="tx1"/>
                </a:solidFill>
              </a:rPr>
              <a:t> между командами разработчиков </a:t>
            </a:r>
            <a:r>
              <a:rPr lang="ru-RU" sz="2400" dirty="0" smtClean="0">
                <a:solidFill>
                  <a:schemeClr val="tx1"/>
                </a:solidFill>
              </a:rPr>
              <a:t>(часто хотят вносить </a:t>
            </a:r>
            <a:r>
              <a:rPr lang="ru-RU" sz="2400" dirty="0">
                <a:solidFill>
                  <a:schemeClr val="tx1"/>
                </a:solidFill>
              </a:rPr>
              <a:t>изменения) и системных администраторов </a:t>
            </a:r>
            <a:r>
              <a:rPr lang="ru-RU" sz="2400" dirty="0" smtClean="0">
                <a:solidFill>
                  <a:schemeClr val="tx1"/>
                </a:solidFill>
              </a:rPr>
              <a:t>(хотят </a:t>
            </a:r>
            <a:r>
              <a:rPr lang="ru-RU" sz="2400" dirty="0">
                <a:solidFill>
                  <a:schemeClr val="tx1"/>
                </a:solidFill>
              </a:rPr>
              <a:t>стабильности</a:t>
            </a:r>
            <a:r>
              <a:rPr lang="ru-RU" sz="2400" dirty="0" smtClean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В основе </a:t>
            </a:r>
            <a:r>
              <a:rPr lang="en-US" sz="2400" dirty="0" smtClean="0">
                <a:solidFill>
                  <a:schemeClr val="tx1"/>
                </a:solidFill>
              </a:rPr>
              <a:t>DevOps </a:t>
            </a:r>
            <a:r>
              <a:rPr lang="ru-RU" sz="2400" dirty="0" smtClean="0">
                <a:solidFill>
                  <a:schemeClr val="tx1"/>
                </a:solidFill>
              </a:rPr>
              <a:t>лежит принцип </a:t>
            </a:r>
            <a:r>
              <a:rPr lang="en-US" sz="2400" dirty="0" smtClean="0">
                <a:solidFill>
                  <a:schemeClr val="tx1"/>
                </a:solidFill>
              </a:rPr>
              <a:t>“C.A.M.S.”</a:t>
            </a:r>
            <a:endParaRPr lang="en-US" sz="4000" dirty="0">
              <a:solidFill>
                <a:schemeClr val="tx1"/>
              </a:solidFill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                </a:t>
            </a:r>
            <a:r>
              <a:rPr lang="ru-RU" sz="2400" b="1" dirty="0" smtClean="0">
                <a:solidFill>
                  <a:schemeClr val="tx1"/>
                </a:solidFill>
              </a:rPr>
              <a:t>  </a:t>
            </a:r>
            <a:r>
              <a:rPr lang="ru-RU" sz="2400" b="1" dirty="0" err="1" smtClean="0">
                <a:solidFill>
                  <a:schemeClr val="tx1"/>
                </a:solidFill>
              </a:rPr>
              <a:t>C</a:t>
            </a:r>
            <a:r>
              <a:rPr lang="ru-RU" sz="2400" dirty="0" err="1" smtClean="0">
                <a:solidFill>
                  <a:schemeClr val="tx1"/>
                </a:solidFill>
              </a:rPr>
              <a:t>ulture</a:t>
            </a:r>
            <a:r>
              <a:rPr lang="ru-RU" sz="2400" dirty="0" smtClean="0">
                <a:solidFill>
                  <a:schemeClr val="tx1"/>
                </a:solidFill>
              </a:rPr>
              <a:t> (Культура) — сотрудничество, общая ответственность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ru-RU" sz="2400" b="1" dirty="0" err="1" smtClean="0">
                <a:solidFill>
                  <a:schemeClr val="tx1"/>
                </a:solidFill>
              </a:rPr>
              <a:t>A</a:t>
            </a:r>
            <a:r>
              <a:rPr lang="ru-RU" sz="2400" dirty="0" err="1" smtClean="0">
                <a:solidFill>
                  <a:schemeClr val="tx1"/>
                </a:solidFill>
              </a:rPr>
              <a:t>utomation</a:t>
            </a:r>
            <a:r>
              <a:rPr lang="ru-RU" sz="2400" dirty="0" smtClean="0">
                <a:solidFill>
                  <a:schemeClr val="tx1"/>
                </a:solidFill>
              </a:rPr>
              <a:t> (Автоматизация) — всё, что можно автоматизировать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                </a:t>
            </a:r>
            <a:r>
              <a:rPr lang="ru-RU" sz="2400" b="1" dirty="0" err="1" smtClean="0">
                <a:solidFill>
                  <a:schemeClr val="tx1"/>
                </a:solidFill>
              </a:rPr>
              <a:t>M</a:t>
            </a:r>
            <a:r>
              <a:rPr lang="ru-RU" sz="2400" dirty="0" err="1" smtClean="0">
                <a:solidFill>
                  <a:schemeClr val="tx1"/>
                </a:solidFill>
              </a:rPr>
              <a:t>easurement</a:t>
            </a:r>
            <a:r>
              <a:rPr lang="ru-RU" sz="2400" dirty="0" smtClean="0">
                <a:solidFill>
                  <a:schemeClr val="tx1"/>
                </a:solidFill>
              </a:rPr>
              <a:t> (Измерения) — метрики для всего</a:t>
            </a:r>
          </a:p>
          <a:p>
            <a:pPr marL="0" indent="0">
              <a:spcBef>
                <a:spcPts val="1600"/>
              </a:spcBef>
              <a:buNone/>
            </a:pPr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ru-RU" sz="2400" b="1" dirty="0" err="1" smtClean="0">
                <a:solidFill>
                  <a:schemeClr val="tx1"/>
                </a:solidFill>
              </a:rPr>
              <a:t>S</a:t>
            </a:r>
            <a:r>
              <a:rPr lang="ru-RU" sz="2400" dirty="0" err="1" smtClean="0">
                <a:solidFill>
                  <a:schemeClr val="tx1"/>
                </a:solidFill>
              </a:rPr>
              <a:t>haring</a:t>
            </a:r>
            <a:r>
              <a:rPr lang="ru-RU" sz="2400" dirty="0" smtClean="0">
                <a:solidFill>
                  <a:schemeClr val="tx1"/>
                </a:solidFill>
              </a:rPr>
              <a:t> (Обмен) — знания, успехи, проблемы</a:t>
            </a:r>
            <a:endParaRPr lang="ru-RU" sz="2400" dirty="0">
              <a:solidFill>
                <a:schemeClr val="tx1"/>
              </a:solidFill>
            </a:endParaRPr>
          </a:p>
        </p:txBody>
      </p:sp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095" y="4632416"/>
            <a:ext cx="973282" cy="97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6" t="13223" r="12913" b="15702"/>
          <a:stretch/>
        </p:blipFill>
        <p:spPr bwMode="auto">
          <a:xfrm>
            <a:off x="500042" y="4287785"/>
            <a:ext cx="721319" cy="68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805" y="5349709"/>
            <a:ext cx="963795" cy="96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Picture background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0" t="3726" r="10865" b="23842"/>
          <a:stretch/>
        </p:blipFill>
        <p:spPr bwMode="auto">
          <a:xfrm>
            <a:off x="5321410" y="5985164"/>
            <a:ext cx="703152" cy="72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13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400" dirty="0" smtClean="0">
                <a:latin typeface="+mn-lt"/>
              </a:rPr>
              <a:t>Эра </a:t>
            </a:r>
            <a:r>
              <a:rPr lang="en-US" sz="4400" dirty="0" smtClean="0">
                <a:latin typeface="+mn-lt"/>
              </a:rPr>
              <a:t>Agile </a:t>
            </a:r>
            <a:r>
              <a:rPr lang="ru-RU" sz="4400" dirty="0" smtClean="0">
                <a:latin typeface="+mn-lt"/>
              </a:rPr>
              <a:t>и </a:t>
            </a:r>
            <a:r>
              <a:rPr lang="en-US" sz="4400" dirty="0" smtClean="0">
                <a:latin typeface="+mn-lt"/>
              </a:rPr>
              <a:t>DevOps</a:t>
            </a:r>
            <a:endParaRPr lang="ru-RU" sz="4400" dirty="0"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049818" y="2684175"/>
            <a:ext cx="59297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Эра </a:t>
            </a:r>
            <a:r>
              <a:rPr lang="ru-RU" sz="2400" b="1" dirty="0" err="1"/>
              <a:t>DevOps</a:t>
            </a:r>
            <a:r>
              <a:rPr lang="ru-RU" sz="2400" b="1" dirty="0"/>
              <a:t> (2010-настоящее время)</a:t>
            </a:r>
          </a:p>
          <a:p>
            <a:r>
              <a:rPr lang="ru-RU" sz="2400" dirty="0"/>
              <a:t>Документооборот: Автоматизированный, встроенный, асинхронный</a:t>
            </a:r>
          </a:p>
          <a:p>
            <a:r>
              <a:rPr lang="ru-RU" sz="2400" dirty="0"/>
              <a:t>Документация как код (</a:t>
            </a:r>
            <a:r>
              <a:rPr lang="ru-RU" sz="2400" dirty="0" err="1"/>
              <a:t>docs-as-code</a:t>
            </a:r>
            <a:r>
              <a:rPr lang="ru-RU" sz="2400" dirty="0"/>
              <a:t>)</a:t>
            </a:r>
          </a:p>
          <a:p>
            <a:r>
              <a:rPr lang="ru-RU" sz="2400" dirty="0"/>
              <a:t>Живые спецификации через автоматизированные тесты</a:t>
            </a:r>
          </a:p>
          <a:p>
            <a:r>
              <a:rPr lang="ru-RU" sz="2400" dirty="0"/>
              <a:t>Само-</a:t>
            </a:r>
            <a:r>
              <a:rPr lang="ru-RU" sz="2400" dirty="0" err="1"/>
              <a:t>документирующиеся</a:t>
            </a:r>
            <a:r>
              <a:rPr lang="ru-RU" sz="2400" dirty="0"/>
              <a:t> системы через мониторинг и </a:t>
            </a:r>
            <a:r>
              <a:rPr lang="ru-RU" sz="2400" dirty="0" err="1"/>
              <a:t>логи</a:t>
            </a:r>
            <a:r>
              <a:rPr lang="ru-RU" sz="2400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77091" y="2684175"/>
            <a:ext cx="55510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Эра </a:t>
            </a:r>
            <a:r>
              <a:rPr lang="ru-RU" sz="2400" b="1" dirty="0" err="1"/>
              <a:t>Agile</a:t>
            </a:r>
            <a:r>
              <a:rPr lang="ru-RU" sz="2400" b="1" dirty="0"/>
              <a:t> (</a:t>
            </a:r>
            <a:r>
              <a:rPr lang="ru-RU" sz="2400" b="1" dirty="0" smtClean="0"/>
              <a:t>2000-2010)</a:t>
            </a:r>
          </a:p>
          <a:p>
            <a:r>
              <a:rPr lang="ru-RU" sz="2400" dirty="0" smtClean="0"/>
              <a:t>Документооборот: Минимальный, "живой", итеративный</a:t>
            </a:r>
          </a:p>
          <a:p>
            <a:r>
              <a:rPr lang="ru-RU" sz="2400" dirty="0" smtClean="0"/>
              <a:t>Манифест </a:t>
            </a:r>
            <a:r>
              <a:rPr lang="ru-RU" sz="2400" dirty="0" err="1"/>
              <a:t>Agile</a:t>
            </a:r>
            <a:r>
              <a:rPr lang="ru-RU" sz="2400" dirty="0"/>
              <a:t>: "Работающий продукт важнее документации"</a:t>
            </a:r>
          </a:p>
          <a:p>
            <a:r>
              <a:rPr lang="ru-RU" sz="2400" dirty="0" err="1"/>
              <a:t>User</a:t>
            </a:r>
            <a:r>
              <a:rPr lang="ru-RU" sz="2400" dirty="0"/>
              <a:t> </a:t>
            </a:r>
            <a:r>
              <a:rPr lang="ru-RU" sz="2400" dirty="0" err="1"/>
              <a:t>Stories</a:t>
            </a:r>
            <a:r>
              <a:rPr lang="ru-RU" sz="2400" dirty="0"/>
              <a:t> вместо ТЗ, </a:t>
            </a:r>
            <a:r>
              <a:rPr lang="ru-RU" sz="2400" dirty="0" err="1"/>
              <a:t>Wiki</a:t>
            </a:r>
            <a:r>
              <a:rPr lang="ru-RU" sz="2400" dirty="0"/>
              <a:t> вместо формальных спецификаций</a:t>
            </a:r>
          </a:p>
          <a:p>
            <a:r>
              <a:rPr lang="ru-RU" sz="2400" dirty="0" err="1"/>
              <a:t>Just-in-time</a:t>
            </a:r>
            <a:r>
              <a:rPr lang="ru-RU" sz="2400" dirty="0"/>
              <a:t> документация — пишем когда нужно, а не "на будущее"</a:t>
            </a:r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4" t="56983" r="6037" b="7040"/>
          <a:stretch/>
        </p:blipFill>
        <p:spPr bwMode="auto">
          <a:xfrm>
            <a:off x="4719781" y="2286000"/>
            <a:ext cx="1330037" cy="1376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60" t="24818" r="24133" b="36970"/>
          <a:stretch/>
        </p:blipFill>
        <p:spPr bwMode="auto">
          <a:xfrm>
            <a:off x="10270836" y="2178079"/>
            <a:ext cx="1366982" cy="101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03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532244"/>
            <a:ext cx="11163300" cy="1381125"/>
          </a:xfrm>
        </p:spPr>
        <p:txBody>
          <a:bodyPr/>
          <a:lstStyle/>
          <a:p>
            <a:pPr algn="ctr"/>
            <a:r>
              <a:rPr lang="ru-RU" sz="4000" b="1" dirty="0">
                <a:latin typeface="+mn-lt"/>
              </a:rPr>
              <a:t>Документооборот в </a:t>
            </a:r>
            <a:r>
              <a:rPr lang="ru-RU" sz="4000" b="1" dirty="0" err="1">
                <a:latin typeface="+mn-lt"/>
              </a:rPr>
              <a:t>DevOps</a:t>
            </a:r>
            <a:r>
              <a:rPr lang="ru-RU" sz="4000" b="1" dirty="0">
                <a:latin typeface="+mn-lt"/>
              </a:rPr>
              <a:t>-среде</a:t>
            </a:r>
            <a:r>
              <a:rPr lang="ru-RU" sz="4000" b="1" dirty="0" smtClean="0">
                <a:latin typeface="+mn-lt"/>
              </a:rPr>
              <a:t>:</a:t>
            </a:r>
            <a:r>
              <a:rPr lang="en-US" sz="4000" b="1" dirty="0" smtClean="0">
                <a:latin typeface="+mn-lt"/>
              </a:rPr>
              <a:t/>
            </a:r>
            <a:br>
              <a:rPr lang="en-US" sz="4000" b="1" dirty="0" smtClean="0">
                <a:latin typeface="+mn-lt"/>
              </a:rPr>
            </a:br>
            <a:r>
              <a:rPr lang="ru-RU" sz="4000" b="1" dirty="0" smtClean="0">
                <a:latin typeface="+mn-lt"/>
              </a:rPr>
              <a:t>«</a:t>
            </a:r>
            <a:r>
              <a:rPr lang="ru-RU" sz="4000" b="1" dirty="0">
                <a:latin typeface="+mn-lt"/>
              </a:rPr>
              <a:t>Инфраструктура как код» (</a:t>
            </a:r>
            <a:r>
              <a:rPr lang="ru-RU" sz="4000" b="1" dirty="0" err="1">
                <a:latin typeface="+mn-lt"/>
              </a:rPr>
              <a:t>IaC</a:t>
            </a:r>
            <a:r>
              <a:rPr lang="ru-RU" sz="4000" b="1" dirty="0">
                <a:latin typeface="+mn-lt"/>
              </a:rPr>
              <a:t>) и автоматизация.</a:t>
            </a:r>
            <a:endParaRPr lang="ru-RU" sz="4000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5300" y="3028949"/>
            <a:ext cx="11525249" cy="2190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>
                <a:solidFill>
                  <a:schemeClr val="tx1"/>
                </a:solidFill>
              </a:rPr>
              <a:t>Документация по инфраструктуре → это </a:t>
            </a:r>
            <a:r>
              <a:rPr lang="ru-RU" sz="2800" b="1" dirty="0">
                <a:solidFill>
                  <a:schemeClr val="tx1"/>
                </a:solidFill>
              </a:rPr>
              <a:t>скрипты (</a:t>
            </a:r>
            <a:r>
              <a:rPr lang="ru-RU" sz="2800" b="1" dirty="0" err="1">
                <a:solidFill>
                  <a:schemeClr val="tx1"/>
                </a:solidFill>
              </a:rPr>
              <a:t>Terraform</a:t>
            </a:r>
            <a:r>
              <a:rPr lang="ru-RU" sz="2800" b="1" dirty="0">
                <a:solidFill>
                  <a:schemeClr val="tx1"/>
                </a:solidFill>
              </a:rPr>
              <a:t>, </a:t>
            </a:r>
            <a:r>
              <a:rPr lang="ru-RU" sz="2800" b="1" dirty="0" err="1">
                <a:solidFill>
                  <a:schemeClr val="tx1"/>
                </a:solidFill>
              </a:rPr>
              <a:t>Ansible</a:t>
            </a:r>
            <a:r>
              <a:rPr lang="ru-RU" sz="2800" b="1" dirty="0">
                <a:solidFill>
                  <a:schemeClr val="tx1"/>
                </a:solidFill>
              </a:rPr>
              <a:t>)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 smtClean="0">
                <a:solidFill>
                  <a:schemeClr val="tx1"/>
                </a:solidFill>
              </a:rPr>
              <a:t>Инструкции </a:t>
            </a:r>
            <a:r>
              <a:rPr lang="ru-RU" sz="2800" dirty="0">
                <a:solidFill>
                  <a:schemeClr val="tx1"/>
                </a:solidFill>
              </a:rPr>
              <a:t>по сборке и развертыванию → это </a:t>
            </a:r>
            <a:r>
              <a:rPr lang="ru-RU" sz="2800" b="1" dirty="0">
                <a:solidFill>
                  <a:schemeClr val="tx1"/>
                </a:solidFill>
              </a:rPr>
              <a:t>конвейеры CI/CD (</a:t>
            </a:r>
            <a:r>
              <a:rPr lang="ru-RU" sz="2800" b="1" dirty="0" err="1">
                <a:solidFill>
                  <a:schemeClr val="tx1"/>
                </a:solidFill>
              </a:rPr>
              <a:t>Jenkinsfile</a:t>
            </a:r>
            <a:r>
              <a:rPr lang="ru-RU" sz="2800" b="1" dirty="0">
                <a:solidFill>
                  <a:schemeClr val="tx1"/>
                </a:solidFill>
              </a:rPr>
              <a:t>, .</a:t>
            </a:r>
            <a:r>
              <a:rPr lang="ru-RU" sz="2800" b="1" dirty="0" err="1">
                <a:solidFill>
                  <a:schemeClr val="tx1"/>
                </a:solidFill>
              </a:rPr>
              <a:t>gitlab-ci.yml</a:t>
            </a:r>
            <a:r>
              <a:rPr lang="ru-RU" sz="2800" b="1" dirty="0">
                <a:solidFill>
                  <a:schemeClr val="tx1"/>
                </a:solidFill>
              </a:rPr>
              <a:t>)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 smtClean="0">
                <a:solidFill>
                  <a:schemeClr val="tx1"/>
                </a:solidFill>
              </a:rPr>
              <a:t>Все </a:t>
            </a:r>
            <a:r>
              <a:rPr lang="ru-RU" sz="2800" dirty="0">
                <a:solidFill>
                  <a:schemeClr val="tx1"/>
                </a:solidFill>
              </a:rPr>
              <a:t>изменения (и кода, и инфраструктуры) отслеживаются в </a:t>
            </a:r>
            <a:r>
              <a:rPr lang="ru-RU" sz="2800" b="1" dirty="0">
                <a:solidFill>
                  <a:schemeClr val="tx1"/>
                </a:solidFill>
              </a:rPr>
              <a:t>системе контроля версий (</a:t>
            </a:r>
            <a:r>
              <a:rPr lang="ru-RU" sz="2800" b="1" dirty="0" err="1">
                <a:solidFill>
                  <a:schemeClr val="tx1"/>
                </a:solidFill>
              </a:rPr>
              <a:t>Git</a:t>
            </a:r>
            <a:r>
              <a:rPr lang="ru-RU" sz="2800" b="1" dirty="0">
                <a:solidFill>
                  <a:schemeClr val="tx1"/>
                </a:solidFill>
              </a:rPr>
              <a:t>)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 smtClean="0">
                <a:solidFill>
                  <a:schemeClr val="tx1"/>
                </a:solidFill>
              </a:rPr>
              <a:t>Ведение </a:t>
            </a:r>
            <a:r>
              <a:rPr lang="ru-RU" sz="2800" dirty="0">
                <a:solidFill>
                  <a:schemeClr val="tx1"/>
                </a:solidFill>
              </a:rPr>
              <a:t>логов и мониторинг (</a:t>
            </a:r>
            <a:r>
              <a:rPr lang="ru-RU" sz="2800" dirty="0" err="1">
                <a:solidFill>
                  <a:schemeClr val="tx1"/>
                </a:solidFill>
              </a:rPr>
              <a:t>Kibana</a:t>
            </a:r>
            <a:r>
              <a:rPr lang="ru-RU" sz="2800" dirty="0">
                <a:solidFill>
                  <a:schemeClr val="tx1"/>
                </a:solidFill>
              </a:rPr>
              <a:t>, </a:t>
            </a:r>
            <a:r>
              <a:rPr lang="ru-RU" sz="2800" dirty="0" err="1">
                <a:solidFill>
                  <a:schemeClr val="tx1"/>
                </a:solidFill>
              </a:rPr>
              <a:t>Grafana</a:t>
            </a:r>
            <a:r>
              <a:rPr lang="ru-RU" sz="2800" dirty="0">
                <a:solidFill>
                  <a:schemeClr val="tx1"/>
                </a:solidFill>
              </a:rPr>
              <a:t>) как </a:t>
            </a:r>
            <a:r>
              <a:rPr lang="ru-RU" sz="2800" dirty="0" smtClean="0">
                <a:solidFill>
                  <a:schemeClr val="tx1"/>
                </a:solidFill>
              </a:rPr>
              <a:t>актуальный источник сведений о </a:t>
            </a:r>
            <a:r>
              <a:rPr lang="ru-RU" sz="2800" dirty="0">
                <a:solidFill>
                  <a:schemeClr val="tx1"/>
                </a:solidFill>
              </a:rPr>
              <a:t>системе.</a:t>
            </a:r>
          </a:p>
        </p:txBody>
      </p:sp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23165" r="7761" b="25252"/>
          <a:stretch/>
        </p:blipFill>
        <p:spPr bwMode="auto">
          <a:xfrm>
            <a:off x="3001240" y="4761923"/>
            <a:ext cx="6151419" cy="198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53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4312" y="1001377"/>
            <a:ext cx="8761413" cy="706964"/>
          </a:xfrm>
        </p:spPr>
        <p:txBody>
          <a:bodyPr/>
          <a:lstStyle/>
          <a:p>
            <a:pPr algn="ctr"/>
            <a:r>
              <a:rPr lang="ru-RU" b="1" dirty="0"/>
              <a:t>Современные стандарты и </a:t>
            </a:r>
            <a:r>
              <a:rPr lang="ru-RU" b="1" dirty="0" smtClean="0"/>
              <a:t>модели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tx1"/>
                </a:solidFill>
              </a:rPr>
              <a:t>Упоминание ISO/IEC/IEEE 90003 (качество ПО) и особенно ISO/IEC 27001 (информационная безопасность), который критически важен в </a:t>
            </a:r>
            <a:r>
              <a:rPr lang="ru-RU" sz="2400" dirty="0" err="1">
                <a:solidFill>
                  <a:schemeClr val="tx1"/>
                </a:solidFill>
              </a:rPr>
              <a:t>DevOps</a:t>
            </a:r>
            <a:r>
              <a:rPr lang="ru-RU" sz="2400" dirty="0">
                <a:solidFill>
                  <a:schemeClr val="tx1"/>
                </a:solidFill>
              </a:rPr>
              <a:t> из-за автоматизации и скорости изменений</a:t>
            </a:r>
            <a:r>
              <a:rPr lang="ru-RU" sz="2400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tx1"/>
                </a:solidFill>
              </a:rPr>
              <a:t>Проще говоря </a:t>
            </a:r>
            <a:r>
              <a:rPr lang="ru-RU" sz="2400" dirty="0" err="1" smtClean="0">
                <a:solidFill>
                  <a:schemeClr val="tx1"/>
                </a:solidFill>
              </a:rPr>
              <a:t>DevOps</a:t>
            </a:r>
            <a:r>
              <a:rPr lang="ru-RU" sz="2400" dirty="0" smtClean="0">
                <a:solidFill>
                  <a:schemeClr val="tx1"/>
                </a:solidFill>
              </a:rPr>
              <a:t> </a:t>
            </a:r>
            <a:r>
              <a:rPr lang="ru-RU" sz="2400" dirty="0">
                <a:solidFill>
                  <a:schemeClr val="tx1"/>
                </a:solidFill>
              </a:rPr>
              <a:t>даёт скорость, стандарты дают контроль — вместе они дают быструю и предсказуемо качественную разработку с автоматизированным соблюдением всех требований</a:t>
            </a:r>
            <a:r>
              <a:rPr lang="ru-RU" sz="2400" dirty="0" smtClean="0">
                <a:solidFill>
                  <a:schemeClr val="tx1"/>
                </a:solidFill>
              </a:rPr>
              <a:t>. Что на выходе продукта позволяет обеспечить работоспособность и </a:t>
            </a:r>
            <a:r>
              <a:rPr lang="en-US" sz="2400" dirty="0" smtClean="0">
                <a:solidFill>
                  <a:schemeClr val="tx1"/>
                </a:solidFill>
              </a:rPr>
              <a:t>&gt; </a:t>
            </a:r>
            <a:r>
              <a:rPr lang="ru-RU" sz="2400" dirty="0" smtClean="0">
                <a:solidFill>
                  <a:schemeClr val="tx1"/>
                </a:solidFill>
              </a:rPr>
              <a:t>95% соответствия </a:t>
            </a:r>
            <a:r>
              <a:rPr lang="ru-RU" sz="2400" dirty="0" smtClean="0">
                <a:solidFill>
                  <a:schemeClr val="tx1"/>
                </a:solidFill>
              </a:rPr>
              <a:t>политике </a:t>
            </a:r>
            <a:r>
              <a:rPr lang="ru-RU" sz="2400" dirty="0" smtClean="0">
                <a:solidFill>
                  <a:schemeClr val="tx1"/>
                </a:solidFill>
              </a:rPr>
              <a:t>стандартов.</a:t>
            </a:r>
            <a:endParaRPr lang="ru-RU" sz="3200" dirty="0">
              <a:solidFill>
                <a:schemeClr val="tx1"/>
              </a:solidFill>
            </a:endParaRPr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694" y1="47639" x2="50694" y2="4763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072" y="1569795"/>
            <a:ext cx="3120159" cy="3120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563" y="4017817"/>
            <a:ext cx="1513176" cy="1513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25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82737" y="982904"/>
            <a:ext cx="8761413" cy="706964"/>
          </a:xfrm>
        </p:spPr>
        <p:txBody>
          <a:bodyPr/>
          <a:lstStyle/>
          <a:p>
            <a:pPr algn="ctr"/>
            <a:r>
              <a:rPr lang="ru-RU" b="1" dirty="0"/>
              <a:t>Заключение и выводы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25235" y="2603500"/>
            <a:ext cx="10206183" cy="3930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Синтез.</a:t>
            </a:r>
            <a:r>
              <a:rPr lang="ru-RU" sz="2400" dirty="0">
                <a:solidFill>
                  <a:schemeClr val="tx1"/>
                </a:solidFill>
              </a:rPr>
              <a:t> Современная разработка ПО — это не выбор </a:t>
            </a:r>
            <a:r>
              <a:rPr lang="ru-RU" sz="2400" dirty="0" smtClean="0">
                <a:solidFill>
                  <a:schemeClr val="tx1"/>
                </a:solidFill>
              </a:rPr>
              <a:t>«либо стандарт либо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», а умение применять </a:t>
            </a:r>
            <a:r>
              <a:rPr lang="ru-RU" sz="2400" b="1" dirty="0">
                <a:solidFill>
                  <a:schemeClr val="tx1"/>
                </a:solidFill>
              </a:rPr>
              <a:t>гибкие практики в рамках необходимых процессов</a:t>
            </a:r>
            <a:r>
              <a:rPr lang="ru-RU" sz="2400" dirty="0">
                <a:solidFill>
                  <a:schemeClr val="tx1"/>
                </a:solidFill>
              </a:rPr>
              <a:t>. ISO 12207 задает рамки,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/</a:t>
            </a:r>
            <a:r>
              <a:rPr lang="ru-RU" sz="2400" dirty="0" err="1">
                <a:solidFill>
                  <a:schemeClr val="tx1"/>
                </a:solidFill>
              </a:rPr>
              <a:t>DevOps</a:t>
            </a:r>
            <a:r>
              <a:rPr lang="ru-RU" sz="2400" dirty="0">
                <a:solidFill>
                  <a:schemeClr val="tx1"/>
                </a:solidFill>
              </a:rPr>
              <a:t> — методы их </a:t>
            </a:r>
            <a:r>
              <a:rPr lang="ru-RU" sz="2400" dirty="0" smtClean="0">
                <a:solidFill>
                  <a:schemeClr val="tx1"/>
                </a:solidFill>
              </a:rPr>
              <a:t>эффективного заполнения.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Эволюция документооборота:</a:t>
            </a:r>
            <a:r>
              <a:rPr lang="ru-RU" sz="2400" dirty="0">
                <a:solidFill>
                  <a:schemeClr val="tx1"/>
                </a:solidFill>
              </a:rPr>
              <a:t> От толстых папок с документами → к легковесным </a:t>
            </a:r>
            <a:r>
              <a:rPr lang="ru-RU" sz="2400" dirty="0" err="1">
                <a:solidFill>
                  <a:schemeClr val="tx1"/>
                </a:solidFill>
              </a:rPr>
              <a:t>Agile</a:t>
            </a:r>
            <a:r>
              <a:rPr lang="ru-RU" sz="2400" dirty="0">
                <a:solidFill>
                  <a:schemeClr val="tx1"/>
                </a:solidFill>
              </a:rPr>
              <a:t>-артефактам → к исполняемому коду и автоматизированным конвейерам (</a:t>
            </a:r>
            <a:r>
              <a:rPr lang="ru-RU" sz="2400" dirty="0" err="1">
                <a:solidFill>
                  <a:schemeClr val="tx1"/>
                </a:solidFill>
              </a:rPr>
              <a:t>DevOps</a:t>
            </a:r>
            <a:r>
              <a:rPr lang="ru-RU" sz="2400" dirty="0" smtClean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</a:rPr>
              <a:t>Ключевой вывод:</a:t>
            </a:r>
            <a:r>
              <a:rPr lang="ru-RU" sz="2400" dirty="0">
                <a:solidFill>
                  <a:schemeClr val="tx1"/>
                </a:solidFill>
              </a:rPr>
              <a:t> Главная цель остается неизменной — создание качественного, ценного для заказчика программного обеспечения. Меняются лишь инструменты и скорость ее достижения.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9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0022" y="2609561"/>
            <a:ext cx="10094071" cy="1528232"/>
          </a:xfrm>
        </p:spPr>
        <p:txBody>
          <a:bodyPr/>
          <a:lstStyle/>
          <a:p>
            <a:pPr algn="ctr"/>
            <a:r>
              <a:rPr lang="ru-RU" sz="6000" b="1" dirty="0">
                <a:solidFill>
                  <a:srgbClr val="875898"/>
                </a:solidFill>
              </a:rPr>
              <a:t>Спасибо за </a:t>
            </a:r>
            <a:r>
              <a:rPr lang="ru-RU" sz="6000" b="1" dirty="0" smtClean="0">
                <a:solidFill>
                  <a:srgbClr val="875898"/>
                </a:solidFill>
              </a:rPr>
              <a:t>внимание</a:t>
            </a:r>
            <a:r>
              <a:rPr lang="ru-RU" sz="6000" b="1" dirty="0">
                <a:solidFill>
                  <a:srgbClr val="875898"/>
                </a:solidFill>
              </a:rPr>
              <a:t>!</a:t>
            </a:r>
            <a:endParaRPr lang="ru-RU" sz="6000" dirty="0">
              <a:solidFill>
                <a:srgbClr val="8758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87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SO+agile/scrum">
      <a:majorFont>
        <a:latin typeface="Century Gothic"/>
        <a:ea typeface=""/>
        <a:cs typeface=""/>
      </a:majorFont>
      <a:minorFont>
        <a:latin typeface="Bahnschrift Condensed"/>
        <a:ea typeface=""/>
        <a:cs typeface="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1099</TotalTime>
  <Words>224</Words>
  <Application>Microsoft Office PowerPoint</Application>
  <PresentationFormat>Широкоэкранный</PresentationFormat>
  <Paragraphs>64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Bahnschrift Condensed</vt:lpstr>
      <vt:lpstr>Calibri</vt:lpstr>
      <vt:lpstr>Century Gothic</vt:lpstr>
      <vt:lpstr>Times New Roman</vt:lpstr>
      <vt:lpstr>Wingdings 3</vt:lpstr>
      <vt:lpstr>Совет директоров</vt:lpstr>
      <vt:lpstr>Стандарты жизненного цикла ПО: ISO/IEC 12207 и его связь с гибкими методологиями (Agile, Scrum). Стандарты и документооборот в гибкой (Agile) и DevOps-среде</vt:lpstr>
      <vt:lpstr>Что такое ISO/IEC 12207 и Agile/Scrum</vt:lpstr>
      <vt:lpstr>Проблематика между ISO и Agile/Scrum подходами</vt:lpstr>
      <vt:lpstr>Необходимость баланса между управлением и гибкостью</vt:lpstr>
      <vt:lpstr>Мост между мирами: Связь ISO 12207 и Agile</vt:lpstr>
      <vt:lpstr>Адаптация документооборота</vt:lpstr>
      <vt:lpstr>Эволюция к DevOps и современные стандарты документооборота</vt:lpstr>
      <vt:lpstr>Эра Agile и DevOps</vt:lpstr>
      <vt:lpstr>Документооборот в DevOps-среде: «Инфраструктура как код» (IaC) и автоматизация.</vt:lpstr>
      <vt:lpstr>Современные стандарты и модели</vt:lpstr>
      <vt:lpstr>Заключение и 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Стандарты жизненного цикла ПО: ISO/IEC 12207 и его связь с гибкими методологиями (Agile, Scrum). Стандарты и документооборот в гибкой (Agile) и DevOps-среде</dc:title>
  <dc:creator>Пользователь</dc:creator>
  <cp:lastModifiedBy>Пользователь</cp:lastModifiedBy>
  <cp:revision>23</cp:revision>
  <dcterms:created xsi:type="dcterms:W3CDTF">2026-01-20T03:39:10Z</dcterms:created>
  <dcterms:modified xsi:type="dcterms:W3CDTF">2026-01-28T03:29:20Z</dcterms:modified>
</cp:coreProperties>
</file>